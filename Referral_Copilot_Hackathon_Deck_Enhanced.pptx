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527657c85342cd" /><Relationship Type="http://schemas.openxmlformats.org/officeDocument/2006/relationships/extended-properties" Target="/docProps/app.xml" Id="R1251d565be544e3d" /><Relationship Type="http://schemas.openxmlformats.org/officeDocument/2006/relationships/officeDocument" Target="/ppt/presentation.xml" Id="Rea6a951895e949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6ee41a20454639"/>
  </p:sldMasterIdLst>
  <p:notesMasterIdLst>
    <p:notesMasterId xmlns:r="http://schemas.openxmlformats.org/officeDocument/2006/relationships" r:id="Ra752db4172174f2c"/>
  </p:notesMasterIdLst>
  <p:sldIdLst>
    <p:sldId xmlns:r="http://schemas.openxmlformats.org/officeDocument/2006/relationships" id="256" r:id="R22ad58763eeb4c8f"/>
    <p:sldId xmlns:r="http://schemas.openxmlformats.org/officeDocument/2006/relationships" id="257" r:id="R1205f404295a45f2"/>
    <p:sldId xmlns:r="http://schemas.openxmlformats.org/officeDocument/2006/relationships" id="258" r:id="R414a433aaabb4c0f"/>
    <p:sldId xmlns:r="http://schemas.openxmlformats.org/officeDocument/2006/relationships" id="259" r:id="R6fb32c57af8a4230"/>
    <p:sldId xmlns:r="http://schemas.openxmlformats.org/officeDocument/2006/relationships" id="260" r:id="R2e9d7cad8fbb4411"/>
    <p:sldId xmlns:r="http://schemas.openxmlformats.org/officeDocument/2006/relationships" id="261" r:id="R9e2f06a85ae240c7"/>
    <p:sldId xmlns:r="http://schemas.openxmlformats.org/officeDocument/2006/relationships" id="262" r:id="R0ab05b75c3234a6e"/>
    <p:sldId xmlns:r="http://schemas.openxmlformats.org/officeDocument/2006/relationships" id="263" r:id="R80af4540314f432b"/>
    <p:sldId xmlns:r="http://schemas.openxmlformats.org/officeDocument/2006/relationships" id="264" r:id="R84238c0d02df40d9"/>
    <p:sldId xmlns:r="http://schemas.openxmlformats.org/officeDocument/2006/relationships" id="265" r:id="R90b5ac6e7a2c413f"/>
    <p:sldId xmlns:r="http://schemas.openxmlformats.org/officeDocument/2006/relationships" id="266" r:id="R6435f4a2214a4396"/>
    <p:sldId xmlns:r="http://schemas.openxmlformats.org/officeDocument/2006/relationships" id="267" r:id="Rde93a248341a49c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13d370c2534406" /><Relationship Type="http://schemas.openxmlformats.org/officeDocument/2006/relationships/slideMaster" Target="/ppt/slideMasters/slideMaster1.xml" Id="R9b6ee41a20454639" /><Relationship Type="http://schemas.openxmlformats.org/officeDocument/2006/relationships/notesMaster" Target="/ppt/notesMasters/notesMaster1.xml" Id="Ra752db4172174f2c" /><Relationship Type="http://schemas.openxmlformats.org/officeDocument/2006/relationships/presProps" Target="/ppt/presProps.xml" Id="R3e4199a83d734b20" /><Relationship Type="http://schemas.openxmlformats.org/officeDocument/2006/relationships/tableStyles" Target="/ppt/tableStyles.xml" Id="Rc24e2cebd521486e" /><Relationship Type="http://schemas.openxmlformats.org/officeDocument/2006/relationships/slide" Target="/ppt/slides/slide1.xml" Id="R22ad58763eeb4c8f" /><Relationship Type="http://schemas.openxmlformats.org/officeDocument/2006/relationships/slide" Target="/ppt/slides/slide2.xml" Id="R1205f404295a45f2" /><Relationship Type="http://schemas.openxmlformats.org/officeDocument/2006/relationships/slide" Target="/ppt/slides/slide3.xml" Id="R414a433aaabb4c0f" /><Relationship Type="http://schemas.openxmlformats.org/officeDocument/2006/relationships/slide" Target="/ppt/slides/slide4.xml" Id="R6fb32c57af8a4230" /><Relationship Type="http://schemas.openxmlformats.org/officeDocument/2006/relationships/slide" Target="/ppt/slides/slide5.xml" Id="R2e9d7cad8fbb4411" /><Relationship Type="http://schemas.openxmlformats.org/officeDocument/2006/relationships/slide" Target="/ppt/slides/slide6.xml" Id="R9e2f06a85ae240c7" /><Relationship Type="http://schemas.openxmlformats.org/officeDocument/2006/relationships/slide" Target="/ppt/slides/slide7.xml" Id="R0ab05b75c3234a6e" /><Relationship Type="http://schemas.openxmlformats.org/officeDocument/2006/relationships/slide" Target="/ppt/slides/slide8.xml" Id="R80af4540314f432b" /><Relationship Type="http://schemas.openxmlformats.org/officeDocument/2006/relationships/slide" Target="/ppt/slides/slide9.xml" Id="R84238c0d02df40d9" /><Relationship Type="http://schemas.openxmlformats.org/officeDocument/2006/relationships/slide" Target="/ppt/slides/slide10.xml" Id="R90b5ac6e7a2c413f" /><Relationship Type="http://schemas.openxmlformats.org/officeDocument/2006/relationships/slide" Target="/ppt/slides/slide11.xml" Id="R6435f4a2214a4396" /><Relationship Type="http://schemas.openxmlformats.org/officeDocument/2006/relationships/slide" Target="/ppt/slides/slide12.xml" Id="Rde93a248341a49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c7b294070446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93eb4d09c1411a" /><Relationship Type="http://schemas.openxmlformats.org/officeDocument/2006/relationships/notesMaster" Target="/ppt/notesMasters/notesMaster1.xml" Id="Rc41f5af76d884c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2f9890abc64391" /><Relationship Type="http://schemas.openxmlformats.org/officeDocument/2006/relationships/notesMaster" Target="/ppt/notesMasters/notesMaster1.xml" Id="Rf1f0dd21927045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e3028bea5741d5" /><Relationship Type="http://schemas.openxmlformats.org/officeDocument/2006/relationships/notesMaster" Target="/ppt/notesMasters/notesMaster1.xml" Id="R08b6ee540f9544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e4063d3c454e60" /><Relationship Type="http://schemas.openxmlformats.org/officeDocument/2006/relationships/notesMaster" Target="/ppt/notesMasters/notesMaster1.xml" Id="R9d478993b9804a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486ded76564bc6" /><Relationship Type="http://schemas.openxmlformats.org/officeDocument/2006/relationships/notesMaster" Target="/ppt/notesMasters/notesMaster1.xml" Id="Rf36e70f5b61b4e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46d148ed874aa0" /><Relationship Type="http://schemas.openxmlformats.org/officeDocument/2006/relationships/notesMaster" Target="/ppt/notesMasters/notesMaster1.xml" Id="R0759df9b88a949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8b636ad83945ed" /><Relationship Type="http://schemas.openxmlformats.org/officeDocument/2006/relationships/notesMaster" Target="/ppt/notesMasters/notesMaster1.xml" Id="R59256f18d53848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44ed445a9146b5" /><Relationship Type="http://schemas.openxmlformats.org/officeDocument/2006/relationships/notesMaster" Target="/ppt/notesMasters/notesMaster1.xml" Id="R51560e58401348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b830f8c0fa448e" /><Relationship Type="http://schemas.openxmlformats.org/officeDocument/2006/relationships/notesMaster" Target="/ppt/notesMasters/notesMaster1.xml" Id="R24fad03c74c844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62bcc54ac254872" /><Relationship Type="http://schemas.openxmlformats.org/officeDocument/2006/relationships/notesMaster" Target="/ppt/notesMasters/notesMaster1.xml" Id="R5548e7d4b0dc45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1afea753494663" /><Relationship Type="http://schemas.openxmlformats.org/officeDocument/2006/relationships/notesMaster" Target="/ppt/notesMasters/notesMaster1.xml" Id="Rfdf9e7c554a84d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2988599138d4481" /><Relationship Type="http://schemas.openxmlformats.org/officeDocument/2006/relationships/notesMaster" Target="/ppt/notesMasters/notesMaster1.xml" Id="Rdc6a65b7946c40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9dad0952b343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14fa060b4945ae" /><Relationship Type="http://schemas.openxmlformats.org/officeDocument/2006/relationships/slideLayout" Target="/ppt/slideLayouts/slideLayout1.xml" Id="Rde4f9d5982a143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4f9d5982a143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0598f07914060" /><Relationship Type="http://schemas.openxmlformats.org/officeDocument/2006/relationships/notesSlide" Target="/ppt/notesSlides/notesSlide1.xml" Id="R22d0bc16205e4a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7d16d3cef4951" /><Relationship Type="http://schemas.openxmlformats.org/officeDocument/2006/relationships/notesSlide" Target="/ppt/notesSlides/notesSlide2.xml" Id="R5412b0a15cd34d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9f5cda4cd424a" /><Relationship Type="http://schemas.openxmlformats.org/officeDocument/2006/relationships/notesSlide" Target="/ppt/notesSlides/notesSlide3.xml" Id="R278a4ce4cea94a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4eb9176334cc1" /><Relationship Type="http://schemas.openxmlformats.org/officeDocument/2006/relationships/notesSlide" Target="/ppt/notesSlides/notesSlide4.xml" Id="Re922d07a4cd34b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1b6e4869745ee" /><Relationship Type="http://schemas.openxmlformats.org/officeDocument/2006/relationships/notesSlide" Target="/ppt/notesSlides/notesSlide5.xml" Id="R8b0b2ebc31e14c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7fa0e55eb49f7" /><Relationship Type="http://schemas.openxmlformats.org/officeDocument/2006/relationships/notesSlide" Target="/ppt/notesSlides/notesSlide6.xml" Id="Raad309297a9343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87d1bfad14bea" /><Relationship Type="http://schemas.openxmlformats.org/officeDocument/2006/relationships/notesSlide" Target="/ppt/notesSlides/notesSlide7.xml" Id="R404b756f450647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23397fbf244d6" /><Relationship Type="http://schemas.openxmlformats.org/officeDocument/2006/relationships/chart" Target="/ppt/slides/charts/chart1.xml" Id="Rfd3751ef435e4a00" /><Relationship Type="http://schemas.openxmlformats.org/officeDocument/2006/relationships/notesSlide" Target="/ppt/notesSlides/notesSlide8.xml" Id="Rcf2d642c786544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96a9ce25d469f" /><Relationship Type="http://schemas.openxmlformats.org/officeDocument/2006/relationships/notesSlide" Target="/ppt/notesSlides/notesSlide9.xml" Id="R7621489ce53544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f5b14a7e741c4" /><Relationship Type="http://schemas.openxmlformats.org/officeDocument/2006/relationships/notesSlide" Target="/ppt/notesSlides/notesSlide10.xml" Id="R3f1696552d1e4d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6622fac2f48ed" /><Relationship Type="http://schemas.openxmlformats.org/officeDocument/2006/relationships/notesSlide" Target="/ppt/notesSlides/notesSlide11.xml" Id="R3353ca5aa25e482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a18578e1b4e28" /><Relationship Type="http://schemas.openxmlformats.org/officeDocument/2006/relationships/notesSlide" Target="/ppt/notesSlides/notesSlide12.xml" Id="R2fc0054ca8b8487f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Score</c:v>
          </c:tx>
          <c:spPr>
            <a:solidFill xmlns:a="http://schemas.openxmlformats.org/drawingml/2006/main">
              <a:srgbClr val="0F766E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Base</c:v>
              </c:pt>
              <c:pt idx="1">
                <c:v>Public</c:v>
              </c:pt>
              <c:pt idx="2">
                <c:v>Final</c:v>
              </c:pt>
            </c:strLit>
          </c:cat>
          <c:val>
            <c:numLit>
              <c:formatCode>General</c:formatCode>
              <c:ptCount val="3"/>
              <c:pt idx="0">
                <c:v>6.4</c:v>
              </c:pt>
              <c:pt idx="1">
                <c:v>0.4</c:v>
              </c:pt>
              <c:pt idx="2">
                <c:v>6.8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07FF93-F4F3-405C-825D-16C1D591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C5549-3CB1-46DD-9C63-87CDA79A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85800"/>
            <a:ext cx="3257550" cy="3257550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1D3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CECA0-8CD5-4452-B842-31482077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5730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A17EF-F4C4-44ED-B0B3-B048EFAF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REFERRAL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98E595-BD8C-4501-B792-2D42F439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714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rPr>
              <a:t>AI referral navigation when every hour matters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C9237-45DD-4D63-A9FB-B47F9AB4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FE8D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FE8DD"/>
                </a:solidFill>
                <a:latin typeface="Aptos"/>
                <a:ea typeface="Aptos"/>
                <a:cs typeface="Aptos"/>
              </a:rPr>
              <a:t>A Databricks-powered navigator for underserved Indian communities: evidence-ranked facilities, live answers, maps, and coordinator next steps.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E12B39-D807-4E76-A576-96F3B934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577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9A2F18-EF25-489A-AF38-59D5E4EF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7F3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F3D0"/>
                </a:solidFill>
                <a:latin typeface="Aptos"/>
                <a:ea typeface="Aptos"/>
                <a:cs typeface="Aptos"/>
              </a:rPr>
              <a:t>Databricks 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DF2841-B60C-4F8C-A676-F23B9AED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57700"/>
            <a:ext cx="1333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2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F1908-B297-4986-9710-4BF5E142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2437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AE6F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AE6FD"/>
                </a:solidFill>
                <a:latin typeface="Aptos"/>
                <a:ea typeface="Aptos"/>
                <a:cs typeface="Aptos"/>
              </a:rPr>
              <a:t>Dash + Leaflet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CAF6CC-0033-4E99-A4FE-77C68BA5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5770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1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2B688-A56D-44AF-8EC5-3F2E0A21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2437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BCF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BCFE8"/>
                </a:solidFill>
                <a:latin typeface="Aptos"/>
                <a:ea typeface="Aptos"/>
                <a:cs typeface="Aptos"/>
              </a:rPr>
              <a:t>OpenAI copilot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4C7741-3E2C-4F00-8A7A-7E56DF8F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57700"/>
            <a:ext cx="1676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2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6B0EFB-55F9-4A25-92E4-3BF9C93B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24375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EF0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EF08A"/>
                </a:solidFill>
                <a:latin typeface="Aptos"/>
                <a:ea typeface="Aptos"/>
                <a:cs typeface="Aptos"/>
              </a:rPr>
              <a:t>0-10 evidence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94EF1B-431A-4486-ABED-3C15EFD0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721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D7C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7D7CA"/>
                </a:solidFill>
                <a:latin typeface="Aptos"/>
                <a:ea typeface="Aptos"/>
                <a:cs typeface="Aptos"/>
              </a:rPr>
              <a:t>Demo story: ask for care, inspect evidence, save a shortlist, and hand off the next step.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2258A6-174D-4FBC-B715-AA0993FE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F3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F3D0"/>
                </a:solidFill>
                <a:latin typeface="Aptos"/>
                <a:ea typeface="Aptos"/>
                <a:cs typeface="Aptos"/>
              </a:rPr>
              <a:t>Referral Copilot | Databricks + AI referral navigation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A642DE-A6A2-4D47-9B0B-C86A75A4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7F3D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F3D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38268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E3B2A9-DDEE-4AC6-9673-381E9331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19636-A0F0-4F78-84D9-168073EB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001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31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3231D"/>
                </a:solidFill>
                <a:latin typeface="Aptos Display"/>
                <a:ea typeface="Aptos Display"/>
                <a:cs typeface="Aptos Display"/>
              </a:rPr>
              <a:t>The referral bottleneck is often information, not intent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5B469-288B-45E9-8B49-5C08B858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In high-stakes moments, coordinators need capability evidence, distance, confidence, and next steps - not just a list of hospitals.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6C387-AC1A-41AE-8668-A81D8B43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2952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66675-D1FD-43EE-B9F8-1565AFE9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2609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0A4EF-E5A6-49CC-9E89-657B815C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Care need and location are known, but facility capability is unclear.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7261DC-065B-460C-B74A-A4F17846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19350"/>
            <a:ext cx="2952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90E1DB-961B-47B2-A154-173E46DC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90800"/>
            <a:ext cx="2609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489651-B3FF-443D-941D-E42F422C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861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Facility data is fragmented across tables, websites, ratings, and directory 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82D79-D155-4060-80AC-C13AE95D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19350"/>
            <a:ext cx="2952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4D2F31-D201-4362-9B19-4F87C00B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2609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04DBE9-9DDF-4159-8F38-3FD818AB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861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 referral decision still needs verification before the patient moves.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03E3E-9899-4A5E-80E7-B5C0D08A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9906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CE7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CFE697-11E5-4D5F-A2E3-48FD08F8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482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Design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2478F3-46DA-41CC-B2C0-599A44A4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339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3231D"/>
                </a:solidFill>
                <a:latin typeface="Aptos Display"/>
                <a:ea typeface="Aptos Display"/>
                <a:cs typeface="Aptos Display"/>
              </a:rPr>
              <a:t>Do not make an AI answer look more certain than the data. Show evidence, gaps, public context, and what to verify next.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820544-4940-4989-AC6E-7CFCAF25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Referral Copilot | Databricks + AI referral navigation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6DD400-597E-4F77-86D1-5B817BD3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64742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2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BDF760-D40B-443E-947D-76FED3FD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485A6-6533-4374-99D3-5EB40775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001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rPr>
              <a:t>A coordinator-grade referral workflow in one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97FAC9-61A1-4E38-9862-4F7B35F2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FE8D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FE8DD"/>
                </a:solidFill>
                <a:latin typeface="Aptos"/>
                <a:ea typeface="Aptos"/>
                <a:cs typeface="Aptos"/>
              </a:rPr>
              <a:t>Referral Copilot turns a simple request into ranked, mapped, evidence-attached choices.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17AC7-DE1A-4C3D-9DD1-99610DDA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18097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102822"/>
          </a:solidFill>
          <a:ln xmlns:a="http://schemas.openxmlformats.org/drawingml/2006/main" w="9525">
            <a:solidFill>
              <a:srgbClr val="31584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C79B21-FC2D-46B7-A087-C2E8D95D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ACC15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ACC15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7EE3E-025F-4F66-8C55-A77DD9CE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rPr>
              <a:t>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10149-135D-4051-9468-95E10036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FE8D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FE8DD"/>
                </a:solidFill>
                <a:latin typeface="Aptos"/>
                <a:ea typeface="Aptos"/>
                <a:cs typeface="Aptos"/>
              </a:rPr>
              <a:t>dialysis near Jaipur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246BF-6707-4BBF-BFA8-2A062228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4766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A4958C-8BB3-4367-BC6F-3EA6D1C4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00350"/>
            <a:ext cx="18097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18342D"/>
          </a:solidFill>
          <a:ln xmlns:a="http://schemas.openxmlformats.org/drawingml/2006/main" w="9525">
            <a:solidFill>
              <a:srgbClr val="3158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506B8-BFC3-4680-A61A-7B292117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ACC15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ACC15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174648-6EE8-41AE-B7CB-E5321D54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29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rPr>
              <a:t>Resolve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AB0678-7099-4548-A943-E252E0D7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052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FE8D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FE8DD"/>
                </a:solidFill>
                <a:latin typeface="Aptos"/>
                <a:ea typeface="Aptos"/>
                <a:cs typeface="Aptos"/>
              </a:rPr>
              <a:t>city, pin code, or GPS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93F8C-84B0-43EB-A338-BC22E283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766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F8CAED-2D59-4689-9774-5EDFE52D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00350"/>
            <a:ext cx="18097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102822"/>
          </a:solidFill>
          <a:ln xmlns:a="http://schemas.openxmlformats.org/drawingml/2006/main" w="9525">
            <a:solidFill>
              <a:srgbClr val="31584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DF9D2F-D831-418F-91E9-762BA2C5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ACC15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ACC15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694249-8143-4066-A2B7-24B23B2A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rPr>
              <a:t>Rank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D124B9-35F8-4FE6-AB5D-A5F77BED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052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FE8D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FE8DD"/>
                </a:solidFill>
                <a:latin typeface="Aptos"/>
                <a:ea typeface="Aptos"/>
                <a:cs typeface="Aptos"/>
              </a:rPr>
              <a:t>distance + evidence + gaps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3D4F9C-DD72-48A5-BF33-8FF39F62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766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FCF13A-160C-44FE-A841-3F2E6517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00350"/>
            <a:ext cx="18097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18342D"/>
          </a:solidFill>
          <a:ln xmlns:a="http://schemas.openxmlformats.org/drawingml/2006/main" w="9525">
            <a:solidFill>
              <a:srgbClr val="31584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D2D5F8-4486-4D04-96DB-40EC31C6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ACC15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ACC15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3B62C7-E5DE-4713-AB8B-147A0E60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29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rPr>
              <a:t>Inspect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69004F-5E58-4B1D-A3C6-B12F8446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052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FE8D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FE8DD"/>
                </a:solidFill>
                <a:latin typeface="Aptos"/>
                <a:ea typeface="Aptos"/>
                <a:cs typeface="Aptos"/>
              </a:rPr>
              <a:t>map, source, public signal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5D87BF-8ACB-4054-B57C-5E0D33C9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766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5C2FC6-1FD3-490A-924A-03174FCA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00350"/>
            <a:ext cx="18097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102822"/>
          </a:solidFill>
          <a:ln xmlns:a="http://schemas.openxmlformats.org/drawingml/2006/main" w="9525">
            <a:solidFill>
              <a:srgbClr val="31584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12DF9F-2B9A-44C3-A1C1-57F7B158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ACC15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ACC15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8BBA10-B2A1-4EC2-AD4F-40534256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29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rPr>
              <a:t>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CEDC1F-10E7-420D-A7FB-15CC48F3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052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FE8D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FE8DD"/>
                </a:solidFill>
                <a:latin typeface="Aptos"/>
                <a:ea typeface="Aptos"/>
                <a:cs typeface="Aptos"/>
              </a:rPr>
              <a:t>shortlist + copilot next steps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FA65A3-9F56-4D92-9135-29A1C740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F3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F3D0"/>
                </a:solidFill>
                <a:latin typeface="Aptos"/>
                <a:ea typeface="Aptos"/>
                <a:cs typeface="Aptos"/>
              </a:rPr>
              <a:t>Referral Copilot | Databricks + AI referral navigation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BD541C-7AB1-4953-8806-1D91B579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7F3D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F3D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888398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7746B8-C4AD-410B-96AE-6618749B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PRODUCT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47C7F-5B06-484D-AFBB-A9CFA064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001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31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3231D"/>
                </a:solidFill>
                <a:latin typeface="Aptos Display"/>
                <a:ea typeface="Aptos Display"/>
                <a:cs typeface="Aptos Display"/>
              </a:rPr>
              <a:t>From question to shortlist to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25F21-D590-4343-A0E2-20C961F4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first screen is the workflow - search, map, ranked facilities, shortlist, and Ask Copilot.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83DBD-C3B2-4672-89E0-F1DF1FAA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3048000" cy="3429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64247-A790-4248-BC65-7E18C8CB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3231D"/>
                </a:solidFill>
                <a:latin typeface="Aptos Display"/>
                <a:ea typeface="Aptos Display"/>
                <a:cs typeface="Aptos Display"/>
              </a:rPr>
              <a:t>Search panel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91F60-866C-4FE9-AF0E-BA63DB0E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4E984-F232-4992-A8DB-B6752769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9900"/>
            <a:ext cx="2057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3231D"/>
                </a:solidFill>
                <a:latin typeface="Aptos"/>
                <a:ea typeface="Aptos"/>
                <a:cs typeface="Aptos"/>
              </a:rPr>
              <a:t>Free text, pin code, or GPS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E8395-F2D1-4EFF-B1FC-6D008FA7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62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09831-5F4A-47C0-834A-BB80552C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05175"/>
            <a:ext cx="2057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3231D"/>
                </a:solidFill>
                <a:latin typeface="Aptos"/>
                <a:ea typeface="Aptos"/>
                <a:cs typeface="Aptos"/>
              </a:rPr>
              <a:t>Language selector in header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B67B8F-3564-4A8A-B16E-1076325B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395AD0-0C1B-4B67-AB26-145AB82A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2057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3231D"/>
                </a:solidFill>
                <a:latin typeface="Aptos"/>
                <a:ea typeface="Aptos"/>
                <a:cs typeface="Aptos"/>
              </a:rPr>
              <a:t>Radius and max results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934716-32B9-42F7-849A-5002E73C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1E1716-56EF-4033-B33B-E612824A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95725"/>
            <a:ext cx="2057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3231D"/>
                </a:solidFill>
                <a:latin typeface="Aptos"/>
                <a:ea typeface="Aptos"/>
                <a:cs typeface="Aptos"/>
              </a:rPr>
              <a:t>Spinner while backend runs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60C622-AEA8-49AE-BF54-CB72B3A7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37528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5A9F81-F49A-4040-A11B-E69D788F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574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3231D"/>
                </a:solidFill>
                <a:latin typeface="Aptos Display"/>
                <a:ea typeface="Aptos Display"/>
                <a:cs typeface="Aptos Display"/>
              </a:rPr>
              <a:t>Referral map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BD4593-0EFC-4F5D-82DF-430ABEB7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14650"/>
            <a:ext cx="3219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6EF"/>
          </a:solidFill>
          <a:ln xmlns:a="http://schemas.openxmlformats.org/drawingml/2006/main" w="9525">
            <a:solidFill>
              <a:srgbClr val="B7E4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76CE1C-9010-464F-8DEC-839B6426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718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908809-1BA9-4189-A29F-B5FDDB9E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861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B72EA8-2FA3-4306-9D07-ABF533D7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147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1303C7-A7C6-41B0-9913-9D4743D0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8004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93D08B-2F71-4A0B-91DD-694A249A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720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Numbered markers, route lines, popups, and click-to-inspect evidence.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9B16B6-5FF7-4155-B2A0-3B120136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90750"/>
            <a:ext cx="3295650" cy="342900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F000B1-06D2-4484-84A7-42183F3D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57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3231D"/>
                </a:solidFill>
                <a:latin typeface="Aptos Display"/>
                <a:ea typeface="Aptos Display"/>
                <a:cs typeface="Aptos Display"/>
              </a:rPr>
              <a:t>Shortlist copilot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B2EBD5-8D80-4FBC-A004-CFA408F5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67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87B9C4-AB68-433E-BE53-30CF4224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9900"/>
            <a:ext cx="234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3231D"/>
                </a:solidFill>
                <a:latin typeface="Aptos"/>
                <a:ea typeface="Aptos"/>
                <a:cs typeface="Aptos"/>
              </a:rPr>
              <a:t>Save candidate facilities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1EAD52-4648-4B24-B912-1398E931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90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A0D25-E864-49F7-9C8C-8D7CE123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0"/>
            <a:ext cx="234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3231D"/>
                </a:solidFill>
                <a:latin typeface="Aptos"/>
                <a:ea typeface="Aptos"/>
                <a:cs typeface="Aptos"/>
              </a:rPr>
              <a:t>Compare evidence tradeoffs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93E6F5-78EC-49B5-9609-05DB12C4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14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F5811C-8FE5-425D-991E-0486054F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57600"/>
            <a:ext cx="234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3231D"/>
                </a:solidFill>
                <a:latin typeface="Aptos"/>
                <a:ea typeface="Aptos"/>
                <a:cs typeface="Aptos"/>
              </a:rPr>
              <a:t>Verify contacts and websites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2A31C3-1F4D-49ED-817B-C72D188E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38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6F909C-E31A-48E6-9D45-A0C4084C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81450"/>
            <a:ext cx="234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3231D"/>
                </a:solidFill>
                <a:latin typeface="Aptos"/>
                <a:ea typeface="Aptos"/>
                <a:cs typeface="Aptos"/>
              </a:rPr>
              <a:t>Generate next-step handoff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1D52C5-E211-4762-8109-661988D3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Referral Copilot | Databricks + AI referral navigation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678CED-2018-4E38-80A1-BB8BB87B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044129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32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A73890-9124-4227-B575-1A5A56E9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F51BE-D94C-4691-AB2B-1F203E28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001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rPr>
              <a:t>Databricks is the evidence layer; AI is the workflow accelerator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935B3E-F184-43D9-970E-65439597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FE8D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FE8DD"/>
                </a:solidFill>
                <a:latin typeface="Aptos"/>
                <a:ea typeface="Aptos"/>
                <a:cs typeface="Aptos"/>
              </a:rPr>
              <a:t>The model helps parse, translate, enrich, and explain - while deterministic ranking stays grounded in source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DCC9B3-BCF9-4217-9609-4291A6A0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266950" cy="23812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123F38"/>
          </a:solidFill>
          <a:ln xmlns:a="http://schemas.openxmlformats.org/drawingml/2006/main" w="9525">
            <a:solidFill>
              <a:srgbClr val="31584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41968-B08E-4964-99BA-45B8BE42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rPr>
              <a:t>Unity Catalog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E6BDF-AAAC-4770-87F3-8018A26D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1809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FE8D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FE8DD"/>
                </a:solidFill>
                <a:latin typeface="Aptos"/>
                <a:ea typeface="Aptos"/>
                <a:cs typeface="Aptos"/>
              </a:rPr>
              <a:t>facilities</a:t>
            </a:r>
          </a:p>
          <a:p xmlns:a="http://schemas.openxmlformats.org/drawingml/2006/main">
            <a:pPr algn="l">
              <a:defRPr sz="1350" b="0">
                <a:solidFill>
                  <a:srgbClr val="CFE8D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FE8DD"/>
                </a:solidFill>
                <a:latin typeface="Aptos"/>
                <a:ea typeface="Aptos"/>
                <a:cs typeface="Aptos"/>
              </a:rPr>
              <a:t>pincode directory</a:t>
            </a:r>
          </a:p>
          <a:p xmlns:a="http://schemas.openxmlformats.org/drawingml/2006/main">
            <a:pPr algn="l">
              <a:defRPr sz="1350" b="0">
                <a:solidFill>
                  <a:srgbClr val="CFE8D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FE8DD"/>
                </a:solidFill>
                <a:latin typeface="Aptos"/>
                <a:ea typeface="Aptos"/>
                <a:cs typeface="Aptos"/>
              </a:rPr>
              <a:t>NFHS district indicators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B2CBC5-1771-4787-B817-930B92F2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9090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B1F019-6F34-4027-9EF5-2D432CEF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2266950" cy="23812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12263F"/>
          </a:solidFill>
          <a:ln xmlns:a="http://schemas.openxmlformats.org/drawingml/2006/main" w="9525">
            <a:solidFill>
              <a:srgbClr val="31584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EF3BA0-2161-425D-92B8-D0E6B801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24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rPr>
              <a:t>Ranking engine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4AEAD3-3DB2-463F-B145-B97CDDF1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38500"/>
            <a:ext cx="1809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FE8D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FE8DD"/>
                </a:solidFill>
                <a:latin typeface="Aptos"/>
                <a:ea typeface="Aptos"/>
                <a:cs typeface="Aptos"/>
              </a:rPr>
              <a:t>distance</a:t>
            </a:r>
          </a:p>
          <a:p xmlns:a="http://schemas.openxmlformats.org/drawingml/2006/main">
            <a:pPr algn="l">
              <a:defRPr sz="1350" b="0">
                <a:solidFill>
                  <a:srgbClr val="CFE8D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FE8DD"/>
                </a:solidFill>
                <a:latin typeface="Aptos"/>
                <a:ea typeface="Aptos"/>
                <a:cs typeface="Aptos"/>
              </a:rPr>
              <a:t>field evidence</a:t>
            </a:r>
          </a:p>
          <a:p xmlns:a="http://schemas.openxmlformats.org/drawingml/2006/main">
            <a:pPr algn="l">
              <a:defRPr sz="1350" b="0">
                <a:solidFill>
                  <a:srgbClr val="CFE8D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FE8DD"/>
                </a:solidFill>
                <a:latin typeface="Aptos"/>
                <a:ea typeface="Aptos"/>
                <a:cs typeface="Aptos"/>
              </a:rPr>
              <a:t>urgency fit</a:t>
            </a:r>
          </a:p>
          <a:p xmlns:a="http://schemas.openxmlformats.org/drawingml/2006/main">
            <a:pPr algn="l">
              <a:defRPr sz="1350" b="0">
                <a:solidFill>
                  <a:srgbClr val="CFE8D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FE8DD"/>
                </a:solidFill>
                <a:latin typeface="Aptos"/>
                <a:ea typeface="Aptos"/>
                <a:cs typeface="Aptos"/>
              </a:rPr>
              <a:t>data-quality penalties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190610-8F82-40D7-8AFD-58E31B43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39090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5D56B0-D908-4B8E-B069-79A2BB31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76500"/>
            <a:ext cx="2266950" cy="23812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3A1420"/>
          </a:solidFill>
          <a:ln xmlns:a="http://schemas.openxmlformats.org/drawingml/2006/main" w="9525">
            <a:solidFill>
              <a:srgbClr val="31584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F1485-B487-4E03-9687-DBDBF871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rPr>
              <a:t>OpenAI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8A4090-ABBD-44A0-A605-D2E974C9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38500"/>
            <a:ext cx="1809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FE8D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FE8DD"/>
                </a:solidFill>
                <a:latin typeface="Aptos"/>
                <a:ea typeface="Aptos"/>
                <a:cs typeface="Aptos"/>
              </a:rPr>
              <a:t>query parsing</a:t>
            </a:r>
          </a:p>
          <a:p xmlns:a="http://schemas.openxmlformats.org/drawingml/2006/main">
            <a:pPr algn="l">
              <a:defRPr sz="1350" b="0">
                <a:solidFill>
                  <a:srgbClr val="CFE8D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FE8DD"/>
                </a:solidFill>
                <a:latin typeface="Aptos"/>
                <a:ea typeface="Aptos"/>
                <a:cs typeface="Aptos"/>
              </a:rPr>
              <a:t>web lookup</a:t>
            </a:r>
          </a:p>
          <a:p xmlns:a="http://schemas.openxmlformats.org/drawingml/2006/main">
            <a:pPr algn="l">
              <a:defRPr sz="1350" b="0">
                <a:solidFill>
                  <a:srgbClr val="CFE8D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FE8DD"/>
                </a:solidFill>
                <a:latin typeface="Aptos"/>
                <a:ea typeface="Aptos"/>
                <a:cs typeface="Aptos"/>
              </a:rPr>
              <a:t>multilingual UI</a:t>
            </a:r>
          </a:p>
          <a:p xmlns:a="http://schemas.openxmlformats.org/drawingml/2006/main">
            <a:pPr algn="l">
              <a:defRPr sz="1350" b="0">
                <a:solidFill>
                  <a:srgbClr val="CFE8D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FE8DD"/>
                </a:solidFill>
                <a:latin typeface="Aptos"/>
                <a:ea typeface="Aptos"/>
                <a:cs typeface="Aptos"/>
              </a:rPr>
              <a:t>shortlist copilot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D54928-51DC-4EE4-B485-ABEAE056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9090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565657-2FA3-4A1A-A590-2DA5706F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266950" cy="23812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332B0B"/>
          </a:solidFill>
          <a:ln xmlns:a="http://schemas.openxmlformats.org/drawingml/2006/main" w="9525">
            <a:solidFill>
              <a:srgbClr val="31584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46A957-6F98-4E14-9FE3-CD84BD8F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24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rPr>
              <a:t>Coordinator UI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9AB8F1-BA01-42D2-B62D-ADA6B672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38500"/>
            <a:ext cx="1809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FE8D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FE8DD"/>
                </a:solidFill>
                <a:latin typeface="Aptos"/>
                <a:ea typeface="Aptos"/>
                <a:cs typeface="Aptos"/>
              </a:rPr>
              <a:t>map</a:t>
            </a:r>
          </a:p>
          <a:p xmlns:a="http://schemas.openxmlformats.org/drawingml/2006/main">
            <a:pPr algn="l">
              <a:defRPr sz="1350" b="0">
                <a:solidFill>
                  <a:srgbClr val="CFE8D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FE8DD"/>
                </a:solidFill>
                <a:latin typeface="Aptos"/>
                <a:ea typeface="Aptos"/>
                <a:cs typeface="Aptos"/>
              </a:rPr>
              <a:t>score cards</a:t>
            </a:r>
          </a:p>
          <a:p xmlns:a="http://schemas.openxmlformats.org/drawingml/2006/main">
            <a:pPr algn="l">
              <a:defRPr sz="1350" b="0">
                <a:solidFill>
                  <a:srgbClr val="CFE8D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FE8DD"/>
                </a:solidFill>
                <a:latin typeface="Aptos"/>
                <a:ea typeface="Aptos"/>
                <a:cs typeface="Aptos"/>
              </a:rPr>
              <a:t>save/download</a:t>
            </a:r>
          </a:p>
          <a:p xmlns:a="http://schemas.openxmlformats.org/drawingml/2006/main">
            <a:pPr algn="l">
              <a:defRPr sz="1350" b="0">
                <a:solidFill>
                  <a:srgbClr val="CFE8D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FE8DD"/>
                </a:solidFill>
                <a:latin typeface="Aptos"/>
                <a:ea typeface="Aptos"/>
                <a:cs typeface="Aptos"/>
              </a:rPr>
              <a:t>call/schedule placeholders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EF5E41-0773-4EEC-81C7-8144F9D8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F3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F3D0"/>
                </a:solidFill>
                <a:latin typeface="Aptos"/>
                <a:ea typeface="Aptos"/>
                <a:cs typeface="Aptos"/>
              </a:rPr>
              <a:t>Referral Copilot | Databricks + AI referral navigation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098AF6-C0F4-4D3D-A1B2-D0D395CB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7F3D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F3D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576064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F382F6-3174-4803-BB58-8CCE1684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FEATURE 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67B57-2A2C-4305-956C-EA80D24F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001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31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3231D"/>
                </a:solidFill>
                <a:latin typeface="Aptos Display"/>
                <a:ea typeface="Aptos Display"/>
                <a:cs typeface="Aptos Display"/>
              </a:rPr>
              <a:t>Built for referral navigation, not generic hospital 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43F0A4-A832-499D-9CE6-686364A9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Every feature supports a coordinator decision: where to send the patient, why, and what to verify.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756C3-A963-45CF-932D-6B3364E4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49720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8BA-07EE-41E9-BBAE-70FD4FE0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1A064-60CF-4589-B5DD-FE9B4A66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36220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3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3231D"/>
                </a:solidFill>
                <a:latin typeface="Aptos"/>
                <a:ea typeface="Aptos"/>
                <a:cs typeface="Aptos"/>
              </a:rPr>
              <a:t>Free text, pin code, GPS, spelling correction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F3B41-857E-476D-9368-257CC9B3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0"/>
            <a:ext cx="49720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5167B-3DD1-4AD8-A17B-09FECFD6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622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82695-9017-4535-AE41-7C8F53C5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6220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3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3231D"/>
                </a:solidFill>
                <a:latin typeface="Aptos"/>
                <a:ea typeface="Aptos"/>
                <a:cs typeface="Aptos"/>
              </a:rPr>
              <a:t>Specialties, procedure, equipment, capability, description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BBEFB-D76C-4221-99ED-C71585A5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49720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4B8F4D-2276-431B-A912-DD892D57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671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DEA25F-7F25-4C2B-B4CF-5BC96CAB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6710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3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3231D"/>
                </a:solidFill>
                <a:latin typeface="Aptos"/>
                <a:ea typeface="Aptos"/>
                <a:cs typeface="Aptos"/>
              </a:rPr>
              <a:t>Leaflet basemap, route lines, numbered markers, popups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EF67A5-1931-4663-8888-20619D21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95650"/>
            <a:ext cx="49720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C1BE8D-7388-416B-AF88-CC274B4D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671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Public web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A17B83-57B9-46C0-B7C5-EA643CE7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6710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3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3231D"/>
                </a:solidFill>
                <a:latin typeface="Aptos"/>
                <a:ea typeface="Aptos"/>
                <a:cs typeface="Aptos"/>
              </a:rPr>
              <a:t>LLM-assisted public lookup for ratings, reviews, websites, source links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FD43EF-CAF9-47EF-AB93-0892C80B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49720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1E2859-70B8-43DF-990C-8BCB4C14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Copilot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BC7DA1-DC0F-4F48-B017-0E01E5D4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7200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3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3231D"/>
                </a:solidFill>
                <a:latin typeface="Aptos"/>
                <a:ea typeface="Aptos"/>
                <a:cs typeface="Aptos"/>
              </a:rPr>
              <a:t>Compare saved facilities, verify contacts, generate next steps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6BF01A-8843-4FFB-BAB7-71477878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00550"/>
            <a:ext cx="49720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631235-B60B-4010-B4DB-8EAA8027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72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Access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758ABA-3248-418B-BAA7-E5453A01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7200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3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3231D"/>
                </a:solidFill>
                <a:latin typeface="Aptos"/>
                <a:ea typeface="Aptos"/>
                <a:cs typeface="Aptos"/>
              </a:rPr>
              <a:t>Regional language UI, non-English input parsing, dark/light mode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CC2B57-D31D-408D-AC08-2ED3C271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Referral Copilot | Databricks + AI referral navigation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11CF93-77BC-40D3-9804-545D77F0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522275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32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B15496-3889-495A-ADDA-C1A0C110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SCORING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939EE-A771-4366-9297-14E21C42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001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rPr>
              <a:t>A transparent 0-10 score, not a black box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761F1-5CE6-40F4-9B7C-9DB048B3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FE8D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FE8DD"/>
                </a:solidFill>
                <a:latin typeface="Aptos"/>
                <a:ea typeface="Aptos"/>
                <a:cs typeface="Aptos"/>
              </a:rPr>
              <a:t>Facility ranking is deterministic: the LLM helps understand and enrich context, but the base score comes from source-data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2063E-CEDE-48DB-AFCB-5D665CA6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529590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2822"/>
          </a:solidFill>
          <a:ln xmlns:a="http://schemas.openxmlformats.org/drawingml/2006/main" w="9525">
            <a:solidFill>
              <a:srgbClr val="31584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C0CE96-5D9F-4021-815A-B6DC1C74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Raw score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7D9C6-129E-4D84-B562-A5C4C3EC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AF8"/>
                </a:solidFill>
                <a:latin typeface="Aptos Mono"/>
                <a:ea typeface="Aptos Mono"/>
                <a:cs typeface="Aptos Mono"/>
              </a:defRPr>
            </a:pPr>
            <a:r>
              <a:rPr sz="2700" b="1">
                <a:solidFill>
                  <a:srgbClr val="F7FAF8"/>
                </a:solidFill>
                <a:latin typeface="Aptos Mono"/>
                <a:ea typeface="Aptos Mono"/>
                <a:cs typeface="Aptos Mono"/>
              </a:rPr>
              <a:t>R = E + D + F + U - 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77A89-A663-4352-8C89-B73330EE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290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ACC15"/>
                </a:solidFill>
                <a:latin typeface="Aptos Mono"/>
                <a:ea typeface="Aptos Mono"/>
                <a:cs typeface="Aptos Mono"/>
              </a:defRPr>
            </a:pPr>
            <a:r>
              <a:rPr sz="1725" b="1">
                <a:solidFill>
                  <a:srgbClr val="FACC15"/>
                </a:solidFill>
                <a:latin typeface="Aptos Mono"/>
                <a:ea typeface="Aptos Mono"/>
                <a:cs typeface="Aptos Mono"/>
              </a:rPr>
              <a:t>Base score = clamp(R / 12, 0, 10)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BEBFF-9F41-4CC1-AF6C-05B8364E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FE8D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FE8DD"/>
                </a:solidFill>
                <a:latin typeface="Aptos"/>
                <a:ea typeface="Aptos"/>
                <a:cs typeface="Aptos"/>
              </a:rPr>
              <a:t>E evidence | D distance | F facility type | U urgency fit | M missing/suspicious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7D2C1-45BD-49FA-9271-72F3BD42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81250"/>
            <a:ext cx="476250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8342D"/>
          </a:solidFill>
          <a:ln xmlns:a="http://schemas.openxmlformats.org/drawingml/2006/main" w="9525">
            <a:solidFill>
              <a:srgbClr val="3158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C8291-01B5-42F1-A4C0-278087B2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47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rPr>
              <a:t>Evidence weights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7B808F-80F6-4173-B21E-60CFA1FF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051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F7E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F7ED"/>
                </a:solidFill>
                <a:latin typeface="Aptos"/>
                <a:ea typeface="Aptos"/>
                <a:cs typeface="Aptos"/>
              </a:rPr>
              <a:t>Specialties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28DA11-43CF-4307-9959-EA0040D3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051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ACC1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ACC1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4E08EA-0925-43E4-A6D6-E68F6CFD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528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F7E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F7ED"/>
                </a:solidFill>
                <a:latin typeface="Aptos"/>
                <a:ea typeface="Aptos"/>
                <a:cs typeface="Aptos"/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33A981-11C0-4FFE-AFE6-075B82B5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528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ACC1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ACC15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DC6D65-888A-4240-8A5B-ABF44F3D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004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F7E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F7ED"/>
                </a:solidFill>
                <a:latin typeface="Aptos"/>
                <a:ea typeface="Aptos"/>
                <a:cs typeface="Aptos"/>
              </a:rPr>
              <a:t>Equipment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EB2AA6-44C6-42D8-9529-27E1005C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004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ACC1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ACC15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826B57-BD62-48B8-A228-645DB583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481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F7E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F7ED"/>
                </a:solidFill>
                <a:latin typeface="Aptos"/>
                <a:ea typeface="Aptos"/>
                <a:cs typeface="Aptos"/>
              </a:rPr>
              <a:t>Capability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669074-CD46-43D8-BF53-8E3F5438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48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ACC1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ACC15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C76E8C-8E43-4023-A77A-B3EDD8D6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957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F7E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F7ED"/>
                </a:solidFill>
                <a:latin typeface="Aptos"/>
                <a:ea typeface="Aptos"/>
                <a:cs typeface="Aptos"/>
              </a:rPr>
              <a:t>Description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88D1E8-6D54-438B-BF91-A7E86AE9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957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ACC1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ACC15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EC4CEE-D749-460E-85A7-5E5AF019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434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F7E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F7ED"/>
                </a:solidFill>
                <a:latin typeface="Aptos"/>
                <a:ea typeface="Aptos"/>
                <a:cs typeface="Aptos"/>
              </a:rPr>
              <a:t>Name / type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2D2C54-B8CF-4B6F-86C6-5DEA3E94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3434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ACC1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ACC1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C74576-2501-490F-B3F5-A7603B32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F3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F3D0"/>
                </a:solidFill>
                <a:latin typeface="Aptos"/>
                <a:ea typeface="Aptos"/>
                <a:cs typeface="Aptos"/>
              </a:rPr>
              <a:t>Referral Copilot | Databricks + AI referral navigation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AC9084-2316-4EC7-923B-B7F7EA1B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7F3D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F3D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315826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806091-B5D1-44B0-9C75-21440DF0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SCORE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A4F8A-9013-4B04-B49A-9A58D533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001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31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3231D"/>
                </a:solidFill>
                <a:latin typeface="Aptos Display"/>
                <a:ea typeface="Aptos Display"/>
                <a:cs typeface="Aptos Display"/>
              </a:rPr>
              <a:t>Dialysis near Jaipur: how one facility reaches 6.8/10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AEFC0-F240-465F-888B-71AB556C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This example illustrates the scoring mechanics and how public signals gently adjust the final score.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FCC7B-D54F-46E9-80FE-4EEE8804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43434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732D27-13A7-45AA-BAB1-91E4BEF0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3231D"/>
                </a:solidFill>
                <a:latin typeface="Aptos Display"/>
                <a:ea typeface="Aptos Display"/>
                <a:cs typeface="Aptos Display"/>
              </a:rPr>
              <a:t>Base score walkthrough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BECA5-8B4A-44DD-96BA-4755AFFB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FA6E4-2316-456E-B839-D2BF4883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289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323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31D"/>
                </a:solidFill>
                <a:latin typeface="Aptos"/>
                <a:ea typeface="Aptos"/>
                <a:cs typeface="Aptos"/>
              </a:rPr>
              <a:t>26.0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E9911-B1A1-4E6C-9D7C-034B1CBD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28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specialties + equipment + capability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7D8F13-1BAD-4CAA-A24D-A6B8E2C8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Distance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7E3E28-108F-4B88-8CD3-C464B044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480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323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31D"/>
                </a:solidFill>
                <a:latin typeface="Aptos"/>
                <a:ea typeface="Aptos"/>
                <a:cs typeface="Aptos"/>
              </a:rPr>
              <a:t>47.6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262FE9-8E08-4D04-9EB4-A116167F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48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8 km within 25 km radius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E8E7A0-280C-4C53-ABC2-D7015334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Facility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82E3F3-A12F-4DE1-91F6-957D99A1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671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323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31D"/>
                </a:solidFill>
                <a:latin typeface="Aptos"/>
                <a:ea typeface="Aptos"/>
                <a:cs typeface="Aptos"/>
              </a:rPr>
              <a:t>+8.0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D80F8-B3B7-4F89-9EB2-52E49D18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67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hospital bonus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35EE7C-B388-4D28-BFD1-774A92BA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Urgency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5F53ED-ECDE-41E2-90F4-29B0DC15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862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323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31D"/>
                </a:solidFill>
                <a:latin typeface="Aptos"/>
                <a:ea typeface="Aptos"/>
                <a:cs typeface="Aptos"/>
              </a:rPr>
              <a:t>+0.0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8BB2AB-ECE4-4B63-B56A-B37AA7C0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286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routine dialysis 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53815E-F652-4EE7-B1CC-F74D7456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Penalty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36B0E3-558A-4806-B482-0F4BFB41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053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323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31D"/>
                </a:solidFill>
                <a:latin typeface="Aptos"/>
                <a:ea typeface="Aptos"/>
                <a:cs typeface="Aptos"/>
              </a:rPr>
              <a:t>-5.0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0C5E58-EEA5-4212-9567-E963AFCC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05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two data-quality flags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41EFFE-2770-45E1-A8B5-955C8C6F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31D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3231D"/>
                </a:solidFill>
                <a:latin typeface="Aptos Mono"/>
                <a:ea typeface="Aptos Mono"/>
                <a:cs typeface="Aptos Mono"/>
              </a:rPr>
              <a:t>R = 76.6  -&gt;  base = 76.6 / 12 = 6.4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918859-5193-4EB2-8C3D-340D3DF4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171700"/>
            <a:ext cx="56388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9FABB1-B2EA-46D9-8AFE-4722E01E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384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3231D"/>
                </a:solidFill>
                <a:latin typeface="Aptos Display"/>
                <a:ea typeface="Aptos Display"/>
                <a:cs typeface="Aptos Display"/>
              </a:rPr>
              <a:t>Public review modifier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959CCA-1F98-4EF4-B7BC-2C576A80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95600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0F766E"/>
                </a:solidFill>
                <a:latin typeface="Aptos Mono"/>
                <a:ea typeface="Aptos Mono"/>
                <a:cs typeface="Aptos Mono"/>
              </a:rPr>
              <a:t>P = clamp((rating - 3.8) x 0.75 x confidence, -0.6, +0.9)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25750D-7E9F-4B30-92F3-C51E3917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4099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31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31D"/>
                </a:solidFill>
                <a:latin typeface="Aptos"/>
                <a:ea typeface="Aptos"/>
                <a:cs typeface="Aptos"/>
              </a:rPr>
              <a:t>Example: rating 4.5/5 with 180 reviews gives confidence 0.72.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4B108A-BF18-494C-840C-06BD1BF4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29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31D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3231D"/>
                </a:solidFill>
                <a:latin typeface="Aptos Mono"/>
                <a:ea typeface="Aptos Mono"/>
                <a:cs typeface="Aptos Mono"/>
              </a:rPr>
              <a:t>P = (4.5 - 3.8) x 0.75 x 0.72 = +0.38 -&gt; +0.4</a:t>
            </a:r>
          </a:p>
        </p:txBody>
      </p:sp>
      <p:graphicFrame>
        <p:nvGraphicFramePr>
          <p:cNvPr id="57" name="Chart"/>
          <p:cNvGraphicFramePr/>
          <p:nvPr/>
        </p:nvGraphicFramePr>
        <p:xfrm>
          <a:off xmlns:a="http://schemas.openxmlformats.org/drawingml/2006/main" x="5962650" y="4400550"/>
          <a:ext xmlns:a="http://schemas.openxmlformats.org/drawingml/2006/main" cx="4152900" cy="876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3751ef435e4a00"/>
          </a:graphicData>
        </a:graphic>
      </p:graphicFrame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707495-11D5-4C23-B838-0E083185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410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Final score = 6.8 / 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F77777-9F2A-4B82-A53B-DBEA96B7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Referral Copilot | Databricks + AI referral navigation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460CDC-43B0-47CC-B28C-05C504DF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221890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32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061CAF-62FC-4B3E-9E9B-13E15DDB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TRUST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1723E-6CB8-4737-AF05-B725EC87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001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rPr>
              <a:t>Every recommendation carries evidence and uncertainty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628AD-AEF6-48B2-991C-CC7C39E7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FE8D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FE8DD"/>
                </a:solidFill>
                <a:latin typeface="Aptos"/>
                <a:ea typeface="Aptos"/>
                <a:cs typeface="Aptos"/>
              </a:rPr>
              <a:t>The product avoids a single opaque answer by showing why a facility matched and what still needs verification.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D23F14-9049-4236-825D-373D1BAC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4953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23F38"/>
          </a:solidFill>
          <a:ln xmlns:a="http://schemas.openxmlformats.org/drawingml/2006/main" w="9525">
            <a:solidFill>
              <a:srgbClr val="31584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C5106-2BE8-4791-B82B-CA9B30C5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9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rPr>
              <a:t>Matching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DC9FD-23CA-402A-A279-09719CCF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FE8D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FE8DD"/>
                </a:solidFill>
                <a:latin typeface="Aptos"/>
                <a:ea typeface="Aptos"/>
                <a:cs typeface="Aptos"/>
              </a:rPr>
              <a:t>Shows the facility fields and terms that supported the match.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F97BCC-FD08-4D73-8A4B-81CDF36E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00300"/>
            <a:ext cx="4953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431D0A"/>
          </a:solidFill>
          <a:ln xmlns:a="http://schemas.openxmlformats.org/drawingml/2006/main" w="9525">
            <a:solidFill>
              <a:srgbClr val="3158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3EF1B-4FBF-4B0E-A76D-F2A21CE9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09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rPr>
              <a:t>Missing or suspicious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C8DB89-7081-47DC-97C1-182532C3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81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FE8D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FE8DD"/>
                </a:solidFill>
                <a:latin typeface="Aptos"/>
                <a:ea typeface="Aptos"/>
                <a:cs typeface="Aptos"/>
              </a:rPr>
              <a:t>Flags phone, website, source, operator, specialty, readiness, or coordinate issues.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5B6479-CF95-4A99-AECB-4CE34D2F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4953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2263F"/>
          </a:solidFill>
          <a:ln xmlns:a="http://schemas.openxmlformats.org/drawingml/2006/main" w="9525">
            <a:solidFill>
              <a:srgbClr val="3158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44888-2CD0-44B5-9E9B-4A8A8AD6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rPr>
              <a:t>Public review signal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F2232C-C8D8-4081-82CF-6400F13E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434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FE8D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FE8DD"/>
                </a:solidFill>
                <a:latin typeface="Aptos"/>
                <a:ea typeface="Aptos"/>
                <a:cs typeface="Aptos"/>
              </a:rPr>
              <a:t>Ratings and websites are context, not clinical proof.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97406-C281-49F7-8FAF-05520897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62400"/>
            <a:ext cx="4953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8342D"/>
          </a:solidFill>
          <a:ln xmlns:a="http://schemas.openxmlformats.org/drawingml/2006/main" w="9525">
            <a:solidFill>
              <a:srgbClr val="3158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A5FF54-2347-4D1E-82F9-16FC9AA9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719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rPr>
              <a:t>Source links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7A08CE-29BF-4E68-8F15-1B365315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7434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FE8D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FE8DD"/>
                </a:solidFill>
                <a:latin typeface="Aptos"/>
                <a:ea typeface="Aptos"/>
                <a:cs typeface="Aptos"/>
              </a:rPr>
              <a:t>Official website and source buttons stay visible when available.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DECAC5-DD0A-49CA-9A03-D6A93B87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F3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F3D0"/>
                </a:solidFill>
                <a:latin typeface="Aptos"/>
                <a:ea typeface="Aptos"/>
                <a:cs typeface="Aptos"/>
              </a:rPr>
              <a:t>Referral Copilot | Databricks + AI referral navigation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5788AF-83CE-4046-A5AD-A06ED48E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7F3D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F3D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511357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FC6366-FCA5-4B35-963C-02FE6A01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COORDINATOR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F51D8-1FD9-4A98-BD93-0F7246AB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001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31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3231D"/>
                </a:solidFill>
                <a:latin typeface="Aptos Display"/>
                <a:ea typeface="Aptos Display"/>
                <a:cs typeface="Aptos Display"/>
              </a:rPr>
              <a:t>From shortlist to next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E35D2-7757-48FA-B4D1-9D58890D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app is built around what a coordinator needs to do next, not just what they need to know.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BCF13-E637-40D4-BCEE-7D6E9931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81250"/>
            <a:ext cx="381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5FC9B-991B-4572-B545-804D3515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050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D9B3C-F8F3-4A6A-9D5F-D9A0A86E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90775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BE4E5A-6FA4-433E-A776-01FAA790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47900"/>
            <a:ext cx="69913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2D9C67-59A9-46C1-A172-6E1D2F91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19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Save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435D80-24F5-46B5-A450-B0615277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19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31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31D"/>
                </a:solidFill>
                <a:latin typeface="Aptos"/>
                <a:ea typeface="Aptos"/>
                <a:cs typeface="Aptos"/>
              </a:rPr>
              <a:t>Keep the strongest candidates in a shortlist.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1C71B-DA29-43DD-B934-BE9870E3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2004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BEF15E-EC4B-470F-B506-01F8F89A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86125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761257-538A-4BA0-8754-57F363C9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43250"/>
            <a:ext cx="69913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D5B3E5-C043-4F47-81B4-92FA6015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147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Compare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CD34FC-3C5A-44AF-BE56-21D23E44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14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31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31D"/>
                </a:solidFill>
                <a:latin typeface="Aptos"/>
                <a:ea typeface="Aptos"/>
                <a:cs typeface="Aptos"/>
              </a:rPr>
              <a:t>Ask Copilot to summarize tradeoffs and evidence gaps.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9BB91F-6349-47A5-BD4E-F6681184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957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CA95AF-A3D7-49F9-A248-558515B5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81475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F7A1E6-FE8A-419D-AAE0-CCE1180D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38600"/>
            <a:ext cx="69913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ED327C-975E-4382-9403-9E008121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10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Verify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242F70-3483-4E78-BEB3-6D1D2376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1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31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31D"/>
                </a:solidFill>
                <a:latin typeface="Aptos"/>
                <a:ea typeface="Aptos"/>
                <a:cs typeface="Aptos"/>
              </a:rPr>
              <a:t>Use web search for current websites, contacts, and public context.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80A1C0-3D50-4D17-B130-24998C60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911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6CB19B-B815-4520-98A9-7D13F4C7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76825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F61265-F580-40A6-B96C-25A21101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933950"/>
            <a:ext cx="69913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3A57BA-79A4-47C1-92EC-3ACBCEC7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054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B7F888-D308-41AB-873A-3859E810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054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31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31D"/>
                </a:solidFill>
                <a:latin typeface="Aptos"/>
                <a:ea typeface="Aptos"/>
                <a:cs typeface="Aptos"/>
              </a:rPr>
              <a:t>Use Call/Schedule placeholders, download CSV, and hand off next steps.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70B5FA-7D4D-454D-84DE-290E6E40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Referral Copilot | Databricks + AI referral navigation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6A26DF-0B9E-4F3F-BBE5-8F74A834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225700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32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93BE1C-9D2B-4A9A-83FD-99EE5952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MULTILINGUAL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595AB-FCED-4B67-9590-028F9499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001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rPr>
              <a:t>The app meets coordinators in the language they work 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0DA10-423B-42A5-8FBB-53D51D9F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FE8D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FE8DD"/>
                </a:solidFill>
                <a:latin typeface="Aptos"/>
                <a:ea typeface="Aptos"/>
                <a:cs typeface="Aptos"/>
              </a:rPr>
              <a:t>Regional language support reduces friction while keeping critical identifiers unchanged.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FD591-E143-403F-ACEE-8144D8A7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487680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102822"/>
          </a:solidFill>
          <a:ln xmlns:a="http://schemas.openxmlformats.org/drawingml/2006/main" w="9525">
            <a:solidFill>
              <a:srgbClr val="31584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81296-8104-43B8-8F3A-42640378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52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rPr>
              <a:t>What changes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EB1ED-8EAD-4C8F-90B3-AC9E84ED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1980A-10C5-4521-8E23-A18AD05F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24200"/>
            <a:ext cx="358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F7E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DF7ED"/>
                </a:solidFill>
                <a:latin typeface="Aptos"/>
                <a:ea typeface="Aptos"/>
                <a:cs typeface="Aptos"/>
              </a:rPr>
              <a:t>App chrome and labels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CE72B-7896-49D1-B1D2-7D00A5D5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DB050E-5FC7-451D-9925-FAC32CC4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05200"/>
            <a:ext cx="358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F7E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DF7ED"/>
                </a:solidFill>
                <a:latin typeface="Aptos"/>
                <a:ea typeface="Aptos"/>
                <a:cs typeface="Aptos"/>
              </a:rPr>
              <a:t>Search placeholders and prompts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486190-7BDB-4261-BFCD-81F9DF6D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7DAF4-BDA9-4193-A906-5169E855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86200"/>
            <a:ext cx="358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F7E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DF7ED"/>
                </a:solidFill>
                <a:latin typeface="Aptos"/>
                <a:ea typeface="Aptos"/>
                <a:cs typeface="Aptos"/>
              </a:rPr>
              <a:t>Evidence snippets and result cards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5F4106-9A43-4EF5-B486-7007B42A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AC20C6-FEF2-47FE-857D-CF192D9B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67200"/>
            <a:ext cx="358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F7E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DF7ED"/>
                </a:solidFill>
                <a:latin typeface="Aptos"/>
                <a:ea typeface="Aptos"/>
                <a:cs typeface="Aptos"/>
              </a:rPr>
              <a:t>Copilot responses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5C417A-0A75-420D-85A6-05F75EF5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66950"/>
            <a:ext cx="487680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18342D"/>
          </a:solidFill>
          <a:ln xmlns:a="http://schemas.openxmlformats.org/drawingml/2006/main" w="9525">
            <a:solidFill>
              <a:srgbClr val="31584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5A455F-00C7-48E4-89D7-1CFF7912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52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rPr>
              <a:t>What stays stable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92E367-8F30-4847-9DFB-0F655C9E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81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872106-FEFF-4B35-8FCF-797B32A2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24200"/>
            <a:ext cx="358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F7E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DF7ED"/>
                </a:solidFill>
                <a:latin typeface="Aptos"/>
                <a:ea typeface="Aptos"/>
                <a:cs typeface="Aptos"/>
              </a:rPr>
              <a:t>Hospital names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795C98-9225-4F2D-8BF0-6AA78E01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62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BB0492-5315-42AE-97EE-CA0A7D04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05200"/>
            <a:ext cx="358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F7E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DF7ED"/>
                </a:solidFill>
                <a:latin typeface="Aptos"/>
                <a:ea typeface="Aptos"/>
                <a:cs typeface="Aptos"/>
              </a:rPr>
              <a:t>Phone numbers and emails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9F3639-E9E3-48ED-B3E2-BE21265E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43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B26754-46C4-4707-A47B-60B94966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86200"/>
            <a:ext cx="358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F7E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DF7ED"/>
                </a:solidFill>
                <a:latin typeface="Aptos"/>
                <a:ea typeface="Aptos"/>
                <a:cs typeface="Aptos"/>
              </a:rPr>
              <a:t>URLs and source links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6D12C6-0D6D-4730-A2AC-A3B84255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24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B2BBCA-05B7-4686-A0B9-807CAE6C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67200"/>
            <a:ext cx="358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F7E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DF7ED"/>
                </a:solidFill>
                <a:latin typeface="Aptos"/>
                <a:ea typeface="Aptos"/>
                <a:cs typeface="Aptos"/>
              </a:rPr>
              <a:t>Pin codes, coordinates, scores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BC9240-8192-4246-863D-0013C409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626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ACC1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ACC15"/>
                </a:solidFill>
                <a:latin typeface="Aptos Display"/>
                <a:ea typeface="Aptos Display"/>
                <a:cs typeface="Aptos Display"/>
              </a:rPr>
              <a:t>Behind the scenes: non-English inputs are parsed into English matching terms so the dataset search still works.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3BB963-DBA3-4C0B-ADAF-6E76DF0B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F3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F3D0"/>
                </a:solidFill>
                <a:latin typeface="Aptos"/>
                <a:ea typeface="Aptos"/>
                <a:cs typeface="Aptos"/>
              </a:rPr>
              <a:t>Referral Copilot | Databricks + AI referral navigation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465D22-F75E-40DE-8C9F-70FDB7BE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7F3D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F3D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847837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EDEFED-83FD-4DFD-AD95-CA749FE5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33CAE-FE00-4AA5-BF6A-1D4B9EBC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001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31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3231D"/>
                </a:solidFill>
                <a:latin typeface="Aptos Display"/>
                <a:ea typeface="Aptos Display"/>
                <a:cs typeface="Aptos Display"/>
              </a:rPr>
              <a:t>From hackathon demo to referral infrastructure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32300-AB11-48CC-AB50-B4D0E984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long-term vision is a practical navigation layer for public-health partners and community coordinators.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2CB61-6005-4484-949E-543A1542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4762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B1722-7701-4E3B-A510-2AC63937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574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Real-time readiness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05BA4-6153-4C5A-B96A-F7E114DF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3231D"/>
                </a:solidFill>
                <a:latin typeface="Aptos"/>
                <a:ea typeface="Aptos"/>
                <a:cs typeface="Aptos"/>
              </a:rPr>
              <a:t>Beds, ICU, dialysis slots, emergency department availability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B453B9-CB81-471E-AE7E-988AF4F3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4762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C68B9C-3A5D-4541-8300-D953C1A0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574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Referral handoff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BA4389-D160-4299-B4F5-EB1E3920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19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3231D"/>
                </a:solidFill>
                <a:latin typeface="Aptos"/>
                <a:ea typeface="Aptos"/>
                <a:cs typeface="Aptos"/>
              </a:rPr>
              <a:t>WhatsApp/SMS summaries, call logs, appointment scheduling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6C8010-C991-4BFF-A1B7-2F504628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4762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A137E1-BB55-4A72-9EF9-207B2390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67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Access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8866C6-F876-4076-80C6-DE763F33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291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3231D"/>
                </a:solidFill>
                <a:latin typeface="Aptos"/>
                <a:ea typeface="Aptos"/>
                <a:cs typeface="Aptos"/>
              </a:rPr>
              <a:t>Insurance, eligibility, transport, ambulance availability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E2C302-0BD8-4A6B-B173-32957947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76650"/>
            <a:ext cx="4762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DD3065-473A-42FB-A95E-45EF93C0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67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Outcome learning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32560-445B-4D31-8346-C1B2E88C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291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3231D"/>
                </a:solidFill>
                <a:latin typeface="Aptos"/>
                <a:ea typeface="Aptos"/>
                <a:cs typeface="Aptos"/>
              </a:rPr>
              <a:t>Track which referrals led to care and improve ranking over 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5A4401-6420-4BCA-835A-CD2DABF6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287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3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417739-7B97-4796-8074-CD388B1F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007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7FAF8"/>
                </a:solidFill>
                <a:latin typeface="Aptos Display"/>
                <a:ea typeface="Aptos Display"/>
                <a:cs typeface="Aptos Display"/>
              </a:rPr>
              <a:t>Closing idea: not just nearby hospitals - realistic paths to care, with evidence attached.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49D6F6-0A34-4AFE-8AF4-3477FA64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Referral Copilot | Databricks + AI referral navigation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0B230F-4698-4CBA-A4BC-39FC04AB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70804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2026-06-16T20:50:24.0040000Z</dcterms:created>
  <dcterms:modified xsi:type="dcterms:W3CDTF">2026-06-16T20:50:24.0040000Z</dcterms:modified>
</coreProperties>
</file>